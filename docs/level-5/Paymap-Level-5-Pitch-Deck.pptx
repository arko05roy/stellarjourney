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61459b81c427e" /><Relationship Type="http://schemas.openxmlformats.org/officeDocument/2006/relationships/extended-properties" Target="/docProps/app.xml" Id="Rb37111d80de34445" /><Relationship Type="http://schemas.openxmlformats.org/officeDocument/2006/relationships/officeDocument" Target="/ppt/presentation.xml" Id="Rdc756f3a642a49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4720f8a324875"/>
  </p:sldMasterIdLst>
  <p:notesMasterIdLst>
    <p:notesMasterId xmlns:r="http://schemas.openxmlformats.org/officeDocument/2006/relationships" r:id="R278d829b104a4ef4"/>
  </p:notesMasterIdLst>
  <p:sldIdLst>
    <p:sldId xmlns:r="http://schemas.openxmlformats.org/officeDocument/2006/relationships" id="256" r:id="Ra6bf736fd2724ba3"/>
    <p:sldId xmlns:r="http://schemas.openxmlformats.org/officeDocument/2006/relationships" id="257" r:id="R3b801115a76d4003"/>
    <p:sldId xmlns:r="http://schemas.openxmlformats.org/officeDocument/2006/relationships" id="258" r:id="R224284ff4eae4088"/>
    <p:sldId xmlns:r="http://schemas.openxmlformats.org/officeDocument/2006/relationships" id="259" r:id="Rd309a2db664c4aab"/>
    <p:sldId xmlns:r="http://schemas.openxmlformats.org/officeDocument/2006/relationships" id="260" r:id="Rc36ae1e513b1440d"/>
    <p:sldId xmlns:r="http://schemas.openxmlformats.org/officeDocument/2006/relationships" id="261" r:id="R46aeee53d35e418b"/>
    <p:sldId xmlns:r="http://schemas.openxmlformats.org/officeDocument/2006/relationships" id="262" r:id="R7be5a82b60ff4765"/>
    <p:sldId xmlns:r="http://schemas.openxmlformats.org/officeDocument/2006/relationships" id="263" r:id="R03db490a01914f6a"/>
    <p:sldId xmlns:r="http://schemas.openxmlformats.org/officeDocument/2006/relationships" id="264" r:id="Rc7fa51b7063a49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d810daab64960" /><Relationship Type="http://schemas.openxmlformats.org/officeDocument/2006/relationships/slideMaster" Target="/ppt/slideMasters/slideMaster1.xml" Id="R1e34720f8a324875" /><Relationship Type="http://schemas.openxmlformats.org/officeDocument/2006/relationships/notesMaster" Target="/ppt/notesMasters/notesMaster1.xml" Id="R278d829b104a4ef4" /><Relationship Type="http://schemas.openxmlformats.org/officeDocument/2006/relationships/presProps" Target="/ppt/presProps.xml" Id="R7b5b5dc6e96c4590" /><Relationship Type="http://schemas.openxmlformats.org/officeDocument/2006/relationships/tableStyles" Target="/ppt/tableStyles.xml" Id="R43f0fc32feef4369" /><Relationship Type="http://schemas.openxmlformats.org/officeDocument/2006/relationships/slide" Target="/ppt/slides/slide1.xml" Id="Ra6bf736fd2724ba3" /><Relationship Type="http://schemas.openxmlformats.org/officeDocument/2006/relationships/slide" Target="/ppt/slides/slide2.xml" Id="R3b801115a76d4003" /><Relationship Type="http://schemas.openxmlformats.org/officeDocument/2006/relationships/slide" Target="/ppt/slides/slide3.xml" Id="R224284ff4eae4088" /><Relationship Type="http://schemas.openxmlformats.org/officeDocument/2006/relationships/slide" Target="/ppt/slides/slide4.xml" Id="Rd309a2db664c4aab" /><Relationship Type="http://schemas.openxmlformats.org/officeDocument/2006/relationships/slide" Target="/ppt/slides/slide5.xml" Id="Rc36ae1e513b1440d" /><Relationship Type="http://schemas.openxmlformats.org/officeDocument/2006/relationships/slide" Target="/ppt/slides/slide6.xml" Id="R46aeee53d35e418b" /><Relationship Type="http://schemas.openxmlformats.org/officeDocument/2006/relationships/slide" Target="/ppt/slides/slide7.xml" Id="R7be5a82b60ff4765" /><Relationship Type="http://schemas.openxmlformats.org/officeDocument/2006/relationships/slide" Target="/ppt/slides/slide8.xml" Id="R03db490a01914f6a" /><Relationship Type="http://schemas.openxmlformats.org/officeDocument/2006/relationships/slide" Target="/ppt/slides/slide9.xml" Id="Rc7fa51b7063a49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99afaea7274e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13b9930c674e3a" /><Relationship Type="http://schemas.openxmlformats.org/officeDocument/2006/relationships/notesMaster" Target="/ppt/notesMasters/notesMaster1.xml" Id="Rced3d88a558044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374e56d08f4166" /><Relationship Type="http://schemas.openxmlformats.org/officeDocument/2006/relationships/notesMaster" Target="/ppt/notesMasters/notesMaster1.xml" Id="Rf9bca92d82c14c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344f0efacd4022" /><Relationship Type="http://schemas.openxmlformats.org/officeDocument/2006/relationships/notesMaster" Target="/ppt/notesMasters/notesMaster1.xml" Id="Ra245dc5277104a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3092583f3e4ac5" /><Relationship Type="http://schemas.openxmlformats.org/officeDocument/2006/relationships/notesMaster" Target="/ppt/notesMasters/notesMaster1.xml" Id="Rd0f26284573147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7f6eae78b1402f" /><Relationship Type="http://schemas.openxmlformats.org/officeDocument/2006/relationships/notesMaster" Target="/ppt/notesMasters/notesMaster1.xml" Id="R12bcd8d2a62247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8ef23a9b4746b4" /><Relationship Type="http://schemas.openxmlformats.org/officeDocument/2006/relationships/notesMaster" Target="/ppt/notesMasters/notesMaster1.xml" Id="R2fa7d194fc8647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d3790a5a3d4364" /><Relationship Type="http://schemas.openxmlformats.org/officeDocument/2006/relationships/notesMaster" Target="/ppt/notesMasters/notesMaster1.xml" Id="R16123af1a11444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fbd0b55dfe4ac6" /><Relationship Type="http://schemas.openxmlformats.org/officeDocument/2006/relationships/notesMaster" Target="/ppt/notesMasters/notesMaster1.xml" Id="R312b8eaec3d648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a9eddac05946d5" /><Relationship Type="http://schemas.openxmlformats.org/officeDocument/2006/relationships/notesMaster" Target="/ppt/notesMasters/notesMaster1.xml" Id="R4ac8c7035a104a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user promise: recurring payments without surrendering wallet custody.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https://github.com/SachPlayZ/Paymap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product around a clear trust boundary, not a generic payments pitch.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https://github.com/SachPlayZ/Paymap/blob/main/docs/threat-model.md</a:t>
            </a:r>
          </a:p>
          <a:p xmlns:a="http://schemas.openxmlformats.org/drawingml/2006/main">
            <a:r>
              <a:t>- https://github.com/SachPlayZ/Paymap/blob/main/docs/contract-invariants.md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three-step user model. Emphasize that the relayer has zero spending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https://github.com/SachPlayZ/Paymap/blob/main/docs/architecture.md</a:t>
            </a:r>
          </a:p>
          <a:p xmlns:a="http://schemas.openxmlformats.org/drawingml/2006/main">
            <a:r>
              <a:t>- https://github.com/SachPlayZ/Paymap/blob/main/docs/security-checklist.md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both roles. Start at the public frontend, then enter the merchant connection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https://paymap-web.vercel.app</a:t>
            </a:r>
          </a:p>
          <a:p xmlns:a="http://schemas.openxmlformats.org/drawingml/2006/main">
            <a:r>
              <a:t>- https://paymap-web.vercel.app/merchant/connect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request path, then the confirmed-chain reconciliation path. The API never invents payment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https://github.com/SachPlayZ/Paymap/blob/main/docs/architecture.md</a:t>
            </a:r>
          </a:p>
          <a:p xmlns:a="http://schemas.openxmlformats.org/drawingml/2006/main">
            <a:r>
              <a:t>- https://developers.stellar.org/docs/networks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live application and repository evidence. Do not present 50-user growth as complete until genuine responses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https://github.com/SachPlayZ/Paymap</a:t>
            </a:r>
          </a:p>
          <a:p xmlns:a="http://schemas.openxmlformats.org/drawingml/2006/main">
            <a:r>
              <a:t>- https://paymap-web.vercel.app</a:t>
            </a:r>
          </a:p>
          <a:p xmlns:a="http://schemas.openxmlformats.org/drawingml/2006/main">
            <a:r>
              <a:t>- https://github.com/SachPlayZ/Paymap/blob/main/docs/demo-script.md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focused go-to-market hypothesis, not a market-size claim. Validate segments through the Level 5 feedback cohort.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https://github.com/SachPlayZ/Paymap/blob/main/docs/roadmap.md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feedback loop: collect, analyze, prioritize, implement, verify, link the commit.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https://github.com/SachPlayZ/Paymap/blob/main/docs/level-5/google-form-spec.md</a:t>
            </a:r>
          </a:p>
          <a:p xmlns:a="http://schemas.openxmlformats.org/drawingml/2006/main">
            <a:r>
              <a:t>- https://github.com/SachPlayZ/Paymap/blob/main/docs/level-5/submission-evidence.md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live product. Then run the demo flow from the walkthrough 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https://paymap-web.vercel.app</a:t>
            </a:r>
          </a:p>
          <a:p xmlns:a="http://schemas.openxmlformats.org/drawingml/2006/main">
            <a:r>
              <a:t>- https://github.com/SachPlayZ/Paymap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c0315e38c49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7f3c3bfbd342e5" /><Relationship Type="http://schemas.openxmlformats.org/officeDocument/2006/relationships/slideLayout" Target="/ppt/slideLayouts/slideLayout1.xml" Id="R391048d1d6b74f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1048d1d6b74f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a431b5dc14566" /><Relationship Type="http://schemas.openxmlformats.org/officeDocument/2006/relationships/notesSlide" Target="/ppt/notesSlides/notesSlide1.xml" Id="R6b9bef53a17f49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eb76a084444c7" /><Relationship Type="http://schemas.openxmlformats.org/officeDocument/2006/relationships/notesSlide" Target="/ppt/notesSlides/notesSlide2.xml" Id="R178b45684a6840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eeffa47c14099" /><Relationship Type="http://schemas.openxmlformats.org/officeDocument/2006/relationships/notesSlide" Target="/ppt/notesSlides/notesSlide3.xml" Id="R803689eed11f48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7c6c5da91461d" /><Relationship Type="http://schemas.openxmlformats.org/officeDocument/2006/relationships/image" Target="/ppt/media/image.png" Id="R119c856dc88f4bde" /><Relationship Type="http://schemas.openxmlformats.org/officeDocument/2006/relationships/image" Target="/ppt/media/image2.png" Id="Rcfe127befb0e406d" /><Relationship Type="http://schemas.openxmlformats.org/officeDocument/2006/relationships/notesSlide" Target="/ppt/notesSlides/notesSlide4.xml" Id="R0908214e1ae74f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5f22ead8a4feb" /><Relationship Type="http://schemas.openxmlformats.org/officeDocument/2006/relationships/notesSlide" Target="/ppt/notesSlides/notesSlide5.xml" Id="R34399a2e392a45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1ce31399c46f2" /><Relationship Type="http://schemas.openxmlformats.org/officeDocument/2006/relationships/notesSlide" Target="/ppt/notesSlides/notesSlide6.xml" Id="Rdb6e2b66e11049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173e535544e19" /><Relationship Type="http://schemas.openxmlformats.org/officeDocument/2006/relationships/notesSlide" Target="/ppt/notesSlides/notesSlide7.xml" Id="R5b473e3b8dd54a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2477e54024b40" /><Relationship Type="http://schemas.openxmlformats.org/officeDocument/2006/relationships/notesSlide" Target="/ppt/notesSlides/notesSlide8.xml" Id="R6aa05425dc5542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90604c43a4635" /><Relationship Type="http://schemas.openxmlformats.org/officeDocument/2006/relationships/notesSlide" Target="/ppt/notesSlides/notesSlide9.xml" Id="Rfac4618ca6e34e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57694-EFAA-420E-8690-240CAE7E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62000"/>
            <a:ext cx="4438650" cy="514350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8A5CE-D06E-4CC1-A362-4F5940D8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BF3E9-56BB-47C8-A882-13BFE73E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955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38F08-7E37-4865-AA2C-FDB89AC3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PAYMAP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6758A-FD80-48E0-9488-B00C9F19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8102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Programmable</a:t>
            </a:r>
          </a:p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payments.</a:t>
            </a:r>
          </a:p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User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9C30E-4C71-4A9B-A274-D31C9555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3"/>
                </a:solidFill>
              </a:defRPr>
            </a:pPr>
            <a:r>
              <a:rPr sz="1650" b="0">
                <a:solidFill>
                  <a:srgbClr val="5E6573"/>
                </a:solidFill>
              </a:rPr>
              <a:t>Non-custodial recurring payments on Stellar.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1B31F-AF78-4660-9F19-744D05DD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573"/>
                </a:solidFill>
              </a:defRPr>
            </a:pPr>
            <a:r>
              <a:rPr sz="1050" b="0">
                <a:solidFill>
                  <a:srgbClr val="5E6573"/>
                </a:solidFill>
              </a:rPr>
              <a:t>Level 5 submission deck ·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B10EA-D7D8-4675-8D34-525346D7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14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BOUNDED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33D52-D8F5-4CB5-B9FC-23E6A055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PAYMAP · LEVEL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83857-9031-41A3-8FC9-9F7D9BF7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0522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0D13E-F592-488B-9361-195F55CD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6E00F-505B-424D-A36C-BD841544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Recurring crypto payments force a bad tradeoff.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C3B91-1EC4-4F7B-B6DC-D3F33BF7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3"/>
                </a:solidFill>
              </a:defRPr>
            </a:pPr>
            <a:r>
              <a:rPr sz="1350" b="0">
                <a:solidFill>
                  <a:srgbClr val="5E6573"/>
                </a:solidFill>
              </a:rPr>
              <a:t>Automation usually means custody, unlimited approvals, or repeated manual signing.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E485D-1844-49A8-A4DC-5BC44FD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9F763-8537-4D41-8D47-FE5B6494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5BCF-4B8E-462A-86B9-7C6D0D68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6FEE3-5A25-4500-B407-519365B3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521C8-A3AD-4923-B47C-37E4D71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Custody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BBD1A-C492-4EA3-A981-05C999D5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8765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Merchants or intermediaries may control funds or keys.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D70E4-452C-454D-8092-81BC7D91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FB878-7B16-4EBE-AF21-CF1FDD2F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28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C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F68E0-2B88-45D4-9BF6-09C4279E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955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EDA51-595A-4B74-88C5-40CF1BC5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Unlimited approval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10B91-AAB8-4942-8116-08BA60BA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81400"/>
            <a:ext cx="28765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Blanket token allowances expose more than one payment.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C92F8-391F-484C-B4D5-13EA326E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03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FFD58-B72C-4BBE-BC46-9B73A788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83BAB-FADC-42A4-A033-537C7F3C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955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D3CD5-80BB-4310-93E8-BC52F238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813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Poor 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FC0A6-5767-4312-A60E-15A56913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28765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Users struggle to pause, revoke, or understand failed charges.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E1FF5-A7BE-4289-AEF1-C85E2966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PAYMAP · LEVEL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360A4-6BF2-41F6-BDCB-1A975C03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2633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ADE25-2F17-4983-BCFB-5F07211B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7B85-9E3C-438B-A034-A8BA127E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A mandate defines exactly what may happen.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03611-3722-423A-A9DE-FA6B44CF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3"/>
                </a:solidFill>
              </a:defRPr>
            </a:pPr>
            <a:r>
              <a:rPr sz="1350" b="0">
                <a:solidFill>
                  <a:srgbClr val="5E6573"/>
                </a:solidFill>
              </a:rPr>
              <a:t>The user signs bounded terms once; merchants request charges inside those limits.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BD6C2-8A37-4FD1-8006-35403116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5A513-33D2-4008-865D-615825B8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766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DC14E-F809-467E-96E3-3E528A35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6DA02-67EB-443E-8F35-4593FC7C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D264D-6E27-4E08-B884-B9DC80D1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Authorize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BDEBD-1FB2-46DA-9948-239781ED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819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Payer sets merchant, asset, amount, cadence, caps, and expiry.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74FE1-7D4A-4BDF-A230-AA690612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2766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D3251-97DA-4425-A900-5C9739BF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AFCEE-A8D9-4C6C-8860-7DE6CFF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7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E3C9E-26D6-4B59-927E-2C009E95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62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Charge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C3C5E-B80D-4030-A890-0600D139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2819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Relayer submits a merchant request. Contract verifies every bound.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E26B2-AD0A-4B7B-8E2C-BB103263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32766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98190-6496-4759-AEF6-B09E8EC3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72044-9A06-420C-AB3E-BA49007E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7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8C68D-A9C8-4A00-BB27-1092BC86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D90D0-265F-48DA-AE57-434C3C8A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819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Payer can inspect, pause, resume, or revoke from the dashboard.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5DA13-7202-40A6-9C06-B7BAFC5E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PAYMAP · LEVEL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42497-9BD1-4BCF-A470-9DED92A9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879801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009AE-53CB-4CF3-A53E-13E94A06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20082-E4A0-40D8-86E4-2D3CFE5C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One product, two clean journeys.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1A779-9E4E-437D-A418-3D088D88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3"/>
                </a:solidFill>
              </a:defRPr>
            </a:pPr>
            <a:r>
              <a:rPr sz="1350" b="0">
                <a:solidFill>
                  <a:srgbClr val="5E6573"/>
                </a:solidFill>
              </a:rPr>
              <a:t>Consumers manage mandates. Merchants create checkout links and request eligible charges.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EDDA-F37B-4C76-9360-69426F7B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E90C9-6956-467B-8C2F-B2E9E8A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2197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F6463-BB58-4087-B669-8D5B85FB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52197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c856dc88f4bde"/>
          <a:srcRect xmlns:a="http://schemas.openxmlformats.org/drawingml/2006/main" l="0" t="14275" r="0" b="14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2381250"/>
            <a:ext cx="4991100" cy="2476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127befb0e406d"/>
          <a:srcRect xmlns:a="http://schemas.openxmlformats.org/drawingml/2006/main" l="0" t="14275" r="0" b="14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381250"/>
            <a:ext cx="4991100" cy="2476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1D9C7-15FF-45D6-A420-586277C5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CONSUMER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A362D-60F0-42FE-B07F-F3A10518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114"/>
                </a:solidFill>
              </a:defRPr>
            </a:pPr>
            <a:r>
              <a:rPr sz="1200" b="1">
                <a:solidFill>
                  <a:srgbClr val="101114"/>
                </a:solidFill>
              </a:rPr>
              <a:t>Inspect and control every mandate.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32A13-DA70-4836-AE1D-24B24F6B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MERCHANT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55637-38E5-481D-8FB2-98550268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387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114"/>
                </a:solidFill>
              </a:defRPr>
            </a:pPr>
            <a:r>
              <a:rPr sz="1200" b="1">
                <a:solidFill>
                  <a:srgbClr val="101114"/>
                </a:solidFill>
              </a:rPr>
              <a:t>Create payment flows without custody.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7EA62-24FA-4A6B-8751-28434EA3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PAYMAP · LEVEL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216F4-FF5C-4590-BE67-76907053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6260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353BFC-B26A-4878-911D-D0FA5FDD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DA929-D05C-47FA-951B-92B6A859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Authorization stays on-chain; operations stay observable.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96D16-6DEA-4AD2-A456-CCB27BF4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3"/>
                </a:solidFill>
              </a:defRPr>
            </a:pPr>
            <a:r>
              <a:rPr sz="1350" b="0">
                <a:solidFill>
                  <a:srgbClr val="5E6573"/>
                </a:solidFill>
              </a:rPr>
              <a:t>A separated frontend, API, queue, relayer, indexer, and contract keep trust boundaries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44A7A-511D-49C7-94F1-844C1F3B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5CD10-B325-4BEE-8D92-0B1C2E68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EACC2-9671-489A-8A0E-CB5DA5EF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65AF1-6E07-48D8-9C19-CF5604B8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573"/>
                </a:solidFill>
              </a:defRPr>
            </a:pPr>
            <a:r>
              <a:rPr sz="975" b="0">
                <a:solidFill>
                  <a:srgbClr val="5E6573"/>
                </a:solidFill>
              </a:rPr>
              <a:t>Vercel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7AE98-15E4-4F15-9AB2-C061890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19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D0112-92DA-4346-8571-F6A414E3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BBBA5-3BD3-4B24-9415-BAEF99A3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5CA9E-9222-4EB0-B57D-8E895A7A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Merchant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09474-3E7A-4FB3-9D18-39B3C3BA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573"/>
                </a:solidFill>
              </a:defRPr>
            </a:pPr>
            <a:r>
              <a:rPr sz="975" b="0">
                <a:solidFill>
                  <a:srgbClr val="5E6573"/>
                </a:solidFill>
              </a:rPr>
              <a:t>Render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CD156-1727-4CD3-8DA4-7884CC2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19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C98C4-65FC-49B0-9F8E-1DF58555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C0AD7-0AAE-4E39-B414-FF00C164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67BDC-403E-4737-AADA-45F860A6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Queue + Relayer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30599-2AFC-4D91-8E17-32991FEA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573"/>
                </a:solidFill>
              </a:defRPr>
            </a:pPr>
            <a:r>
              <a:rPr sz="975" b="0">
                <a:solidFill>
                  <a:srgbClr val="5E6573"/>
                </a:solidFill>
              </a:rPr>
              <a:t>Render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AEB69-910F-4F9E-A1F7-9C1DDC03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19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FD850-F56A-40AD-90AB-AE6D5AE4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A2B1B-0680-4998-B0D2-EA620E93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336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1DC19-AF40-418A-9D9B-9EA637A5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Soroban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A98A5-5B24-4EA7-A7D8-6C3AF815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8F0FF"/>
                </a:solidFill>
              </a:defRPr>
            </a:pPr>
            <a:r>
              <a:rPr sz="975" b="0">
                <a:solidFill>
                  <a:srgbClr val="E8F0FF"/>
                </a:solidFill>
              </a:rPr>
              <a:t>Stellar Testnet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B35D7-B0C6-41BB-8232-507A3B1B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E7909-7AFC-4A02-AD96-2581147A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8AF11-A14A-42D5-8B9F-70DA3F42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F07291-6790-45E8-B6CF-64454038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Indexer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26F7D1-C71A-4622-A068-2AEAC732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573"/>
                </a:solidFill>
              </a:defRPr>
            </a:pPr>
            <a:r>
              <a:rPr sz="975" b="0">
                <a:solidFill>
                  <a:srgbClr val="5E6573"/>
                </a:solidFill>
              </a:rPr>
              <a:t>Payments + events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3CBA5B-D302-4FE0-8884-BBF65EF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Payer signature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E5404-4C7A-4C26-98FB-C117AB6D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24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Scoped API key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B9662-4D3A-40B0-8D5B-3FE64C74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24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Zero spending authority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EE27D-7953-46A3-8F77-02158C53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24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Bounded enforcement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DCB1A1-E364-474A-BDE9-3EDDD013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24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Confirmed state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53DFC-545B-49E2-BE12-F9EC0145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PAYMAP · LEVEL 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F29309-49ED-492C-A433-26CD3AEA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1447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CD65E-794D-4819-AFAB-8438AEC8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TECHNICAL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4C486-2667-40D0-BF0C-7D350A94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A working testnet system—not a slideware prototype.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6C755-2429-4FD9-A803-6D0E6C32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3"/>
                </a:solidFill>
              </a:defRPr>
            </a:pPr>
            <a:r>
              <a:rPr sz="1350" b="0">
                <a:solidFill>
                  <a:srgbClr val="5E6573"/>
                </a:solidFill>
              </a:rPr>
              <a:t>Evidence already in the repository; growth evidence remains a separate Level 5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33DF4-EB04-4EB5-88C4-AB8479AD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07D53-0B05-4386-B9F6-BCFE1783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4DDB9-FAD9-49FC-8F23-5D357C6C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20+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7C9D3-3A87-46E8-9AA2-35A06124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573"/>
                </a:solidFill>
              </a:defRPr>
            </a:pPr>
            <a:r>
              <a:rPr sz="900" b="1">
                <a:solidFill>
                  <a:srgbClr val="5E6573"/>
                </a:solidFill>
              </a:rPr>
              <a:t>MEANINGFUL COMMITS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3612A-7657-4F44-8DBE-F123A37D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C0CA2-FED3-408A-AD16-AD6AC4A3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9F6E"/>
                </a:solidFill>
              </a:defRPr>
            </a:pPr>
            <a:r>
              <a:rPr sz="3450" b="1">
                <a:solidFill>
                  <a:srgbClr val="0F9F6E"/>
                </a:solidFill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C2A1C-00E1-45FE-ACEA-13F34DE4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573"/>
                </a:solidFill>
              </a:defRPr>
            </a:pPr>
            <a:r>
              <a:rPr sz="900" b="1">
                <a:solidFill>
                  <a:srgbClr val="5E6573"/>
                </a:solidFill>
              </a:rPr>
              <a:t>WEBHOOK EVENT 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78413-4056-4247-AF28-9502FAF6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6220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EF965-FF2C-4C8A-A050-88CD27AA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69C2D"/>
                </a:solidFill>
              </a:defRPr>
            </a:pPr>
            <a:r>
              <a:rPr sz="3450" b="1">
                <a:solidFill>
                  <a:srgbClr val="E69C2D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B20EF-47DC-4B39-98BF-D0FE027E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671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573"/>
                </a:solidFill>
              </a:defRPr>
            </a:pPr>
            <a:r>
              <a:rPr sz="900" b="1">
                <a:solidFill>
                  <a:srgbClr val="5E6573"/>
                </a:solidFill>
              </a:rPr>
              <a:t>SCHEDULED RETRY WINDOWS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9DBB6-6728-40EB-A8C1-69C4BAA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5346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E7737-7457-464E-A290-3C8B25AC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339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9F6E"/>
                </a:solidFill>
              </a:defRPr>
            </a:pPr>
            <a:r>
              <a:rPr sz="900" b="1">
                <a:solidFill>
                  <a:srgbClr val="0F9F6E"/>
                </a:solidFill>
              </a:rPr>
              <a:t>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08453-A4FB-4691-A451-5392A46C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paymap-web.vercel.app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56456-8187-4964-969A-39516136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CCD6"/>
                </a:solidFill>
              </a:defRPr>
            </a:pPr>
            <a:r>
              <a:rPr sz="1125" b="0">
                <a:solidFill>
                  <a:srgbClr val="C7CCD6"/>
                </a:solidFill>
              </a:rPr>
              <a:t>Testnet transaction hashes and E2E results are linked in the README.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C2B6D-94B6-4107-9C43-C65DC429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PAYMAP · LEVEL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8709B-3283-42C3-BD8C-A6732F50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2639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63597-7797-4CDB-93D3-52D393C1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MARKET +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84FC0-83B8-4F5E-9847-4A427417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Start where trust blocks repeat usage.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AC562-CBDF-4895-8C09-F69072C0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3"/>
                </a:solidFill>
              </a:defRPr>
            </a:pPr>
            <a:r>
              <a:rPr sz="1350" b="0">
                <a:solidFill>
                  <a:srgbClr val="5E6573"/>
                </a:solidFill>
              </a:rPr>
              <a:t>Focus on teams already accepting stablecoins but missing safe recurring authorization.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2A1F6-B0DE-4F73-92E2-891EA483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8BC7F-D76D-4CDE-9CB5-4A72C94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333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EB690-56C8-42ED-9DAC-194EE35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B5C0A-03FF-4489-B7DC-A4A3DB50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1365E-342A-4E5C-9A30-A74F2B16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Subscriptions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3BB4A-E607-484C-9158-8BF7ECE5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87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SaaS, creator memberships, and recurring services.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5C5D2-9DE3-4307-BAAA-5AD114E4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3333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CD561-646B-4671-97B0-3D4438D7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DCD7E-072A-409E-9311-C1462F89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812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92ED3-10C9-4C4E-A80A-FF48AAB3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Installments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83DA7-A6FD-4B26-BBDF-75663A72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287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Education, commerce, and milestone-based plans.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C616B-95DF-4E1E-B190-9715BAFC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86000"/>
            <a:ext cx="3333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D077C-7045-4F44-8328-A9166E34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61CEA-FF4D-4737-B2DD-18D0B645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812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836DB-1080-4B80-90D9-A215D08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Platforms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3024D-E2E7-4692-8C6C-58296227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67100"/>
            <a:ext cx="287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Marketplaces and tools embedding merchant payments.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D094D-C92A-4BBC-960B-34C4012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ACQUIRE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F5FF2A-98BA-4FE2-BE79-61B8E0D8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53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Merchant pilots → shared checkout links → verified user cohorts → integration partners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34BBA-94A3-4414-A7C7-A35A91C2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PAYMAP · LEVEL 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9C1D0-6E27-4E35-92DC-2623528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24545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89AA1-4425-4478-8731-0521F464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C7D9B-7C89-4DA1-B56C-79815B30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Convert feedback into measured product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F03E8-F424-4ABB-B9AF-A75560AA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3"/>
                </a:solidFill>
              </a:defRPr>
            </a:pPr>
            <a:r>
              <a:rPr sz="1350" b="0">
                <a:solidFill>
                  <a:srgbClr val="5E6573"/>
                </a:solidFill>
              </a:rPr>
              <a:t>Every phase has an evidence gate and a linked implementation commit.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4FC17-DA99-49A1-8A87-EA0BA4BE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6A24C-D26A-4214-A67F-48F3AD3A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3337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9F0C1-4427-4221-9314-6ACDC226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A983A-A966-42AF-8893-FC38F828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50-user cohort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F42DD-4D57-4693-A529-5D52B3B7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Collect wallets, ratings, use cases, and verified testnet transactions.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305AD-DC31-460D-8D37-B29CF403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33337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13E70-4DF5-46B8-BCD0-1B7ACBA7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908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781CF-83E0-4F37-AFBE-B98E783F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Feedback iteration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3A25A-DAAE-4822-BB36-54EB97D8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Rank friction by frequency and severity. Ship onboarding and reliability fixes.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01318-9787-4E5F-B077-21E2A885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33337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6539D-E65A-47AE-9B60-12CEA80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THEN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62E38-1498-422A-9AA6-CD5B2A94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Production hardening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E6997-7136-45DB-88E5-29AEB61D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3"/>
                </a:solidFill>
              </a:defRPr>
            </a:pPr>
            <a:r>
              <a:rPr sz="1200" b="0">
                <a:solidFill>
                  <a:srgbClr val="5E6573"/>
                </a:solidFill>
              </a:rPr>
              <a:t>Load/failure testing, alerting, recovery drills, and mainnet readiness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3AEFB-87B9-494D-A5C9-6398DEC3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PAYMAP · LEVEL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D90AE-E013-4885-837C-4DBD230B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573"/>
                </a:solidFill>
              </a:defRPr>
            </a:pPr>
            <a:r>
              <a:rPr sz="750" b="1">
                <a:solidFill>
                  <a:srgbClr val="5E65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57380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17219-4162-440E-8F04-5512F395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FA7FF"/>
                </a:solidFill>
              </a:defRPr>
            </a:pPr>
            <a:r>
              <a:rPr sz="1125" b="1">
                <a:solidFill>
                  <a:srgbClr val="7FA7FF"/>
                </a:solidFill>
              </a:rPr>
              <a:t>PAYMAP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148D8-D314-4140-AF99-DAA2FAC0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2867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Recurring payments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without surrendering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8EDEE-A530-4DCA-91F5-EC63033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FA7FF"/>
                </a:solidFill>
              </a:defRPr>
            </a:pPr>
            <a:r>
              <a:rPr sz="900" b="1">
                <a:solidFill>
                  <a:srgbClr val="7FA7FF"/>
                </a:solidFill>
              </a:rPr>
              <a:t>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684DC-8410-49B2-9C38-9F68AD1E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paymap-web.vercel.app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F7E89-A051-4A16-BDD2-A38B3486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62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FA7FF"/>
                </a:solidFill>
              </a:defRPr>
            </a:pPr>
            <a:r>
              <a:rPr sz="900" b="1">
                <a:solidFill>
                  <a:srgbClr val="7FA7FF"/>
                </a:solidFill>
              </a:rPr>
              <a:t>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919B5-C84F-4356-B58E-9BA0D0B1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48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github.com/SachPlayZ/Paymap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85E38-3F41-42EB-BB86-4C624CF7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4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ED634-5530-4EC6-8494-B84D822F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B5C1"/>
                </a:solidFill>
              </a:defRPr>
            </a:pPr>
            <a:r>
              <a:rPr sz="975" b="0">
                <a:solidFill>
                  <a:srgbClr val="AFB5C1"/>
                </a:solidFill>
              </a:rPr>
              <a:t>Built on Stellar · Testnet evidence linked in README</a:t>
            </a:r>
          </a:p>
        </p:txBody>
      </p:sp>
    </p:spTree>
    <p:extLst>
      <p:ext uri="{BB962C8B-B14F-4D97-AF65-F5344CB8AC3E}">
        <p14:creationId xmlns:p14="http://schemas.microsoft.com/office/powerpoint/2010/main" val="939094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2026-07-29T15:21:10.1950000Z</dcterms:created>
  <dcterms:modified xsi:type="dcterms:W3CDTF">2026-07-29T15:21:10.1950000Z</dcterms:modified>
</coreProperties>
</file>